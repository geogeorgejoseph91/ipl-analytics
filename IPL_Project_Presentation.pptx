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8705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3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5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2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8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9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10" Type="http://schemas.openxmlformats.org/officeDocument/2006/relationships/image" Target="../media/image20.png"/><Relationship Id="rId4" Type="http://schemas.openxmlformats.org/officeDocument/2006/relationships/image" Target="../media/image43.png"/><Relationship Id="rId9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7043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F3D8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PREMIER LEAGUE  •  DATA INTELLIGENCE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3504" y="1517904"/>
            <a:ext cx="7863840" cy="914400"/>
          </a:xfrm>
          <a:prstGeom prst="rect">
            <a:avLst/>
          </a:prstGeom>
          <a:noFill/>
          <a:ln/>
          <a:effectLst>
            <a:outerShdw blurRad="152400" dist="50800" dir="5400000" algn="bl" rotWithShape="0">
              <a:srgbClr val="0000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IPL ANALYTICS</a:t>
            </a:r>
            <a:endParaRPr lang="en-US" sz="6200" dirty="0"/>
          </a:p>
        </p:txBody>
      </p:sp>
      <p:sp>
        <p:nvSpPr>
          <p:cNvPr id="4" name="Shape 2"/>
          <p:cNvSpPr/>
          <p:nvPr/>
        </p:nvSpPr>
        <p:spPr>
          <a:xfrm>
            <a:off x="658368" y="2615184"/>
            <a:ext cx="2514600" cy="512064"/>
          </a:xfrm>
          <a:prstGeom prst="roundRect">
            <a:avLst>
              <a:gd name="adj" fmla="val 50000"/>
            </a:avLst>
          </a:prstGeom>
          <a:solidFill>
            <a:srgbClr val="E9B949"/>
          </a:solidFill>
          <a:ln/>
          <a:effectLst>
            <a:outerShdw blurRad="101600" dist="254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2615184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0C2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SEASONS  2008 – 2022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76656" y="331012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&amp; Performance Presentation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4370832"/>
            <a:ext cx="1078992" cy="402336"/>
          </a:xfrm>
          <a:prstGeom prst="roundRect">
            <a:avLst>
              <a:gd name="adj" fmla="val 50000"/>
            </a:avLst>
          </a:prstGeom>
          <a:solidFill>
            <a:srgbClr val="0E2350">
              <a:alpha val="82000"/>
            </a:srgbClr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4370832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3D8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901952" y="4370832"/>
            <a:ext cx="598932" cy="402336"/>
          </a:xfrm>
          <a:prstGeom prst="roundRect">
            <a:avLst>
              <a:gd name="adj" fmla="val 50000"/>
            </a:avLst>
          </a:prstGeom>
          <a:solidFill>
            <a:srgbClr val="0E2350">
              <a:alpha val="82000"/>
            </a:srgbClr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01952" y="4370832"/>
            <a:ext cx="5989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3D8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DAX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665476" y="4370832"/>
            <a:ext cx="1367028" cy="402336"/>
          </a:xfrm>
          <a:prstGeom prst="roundRect">
            <a:avLst>
              <a:gd name="adj" fmla="val 50000"/>
            </a:avLst>
          </a:prstGeom>
          <a:solidFill>
            <a:srgbClr val="0E2350">
              <a:alpha val="82000"/>
            </a:srgbClr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65476" y="4370832"/>
            <a:ext cx="13670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3D8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Schema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97096" y="4370832"/>
            <a:ext cx="1847088" cy="402336"/>
          </a:xfrm>
          <a:prstGeom prst="roundRect">
            <a:avLst>
              <a:gd name="adj" fmla="val 50000"/>
            </a:avLst>
          </a:prstGeom>
          <a:solidFill>
            <a:srgbClr val="0E2350">
              <a:alpha val="82000"/>
            </a:srgbClr>
          </a:solidFill>
          <a:ln w="12700">
            <a:solidFill>
              <a:srgbClr val="E9B9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97096" y="4370832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3D8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225K+ Deliveries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0624"/>
            <a:ext cx="566928" cy="566928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" name="Image 0" descr="icons/trophy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" y="562356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114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THE TOURNAMENT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88720" y="640080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IPL?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8321040" y="411480"/>
            <a:ext cx="411480" cy="411480"/>
          </a:xfrm>
          <a:prstGeom prst="rect">
            <a:avLst/>
          </a:prstGeom>
          <a:solidFill>
            <a:srgbClr val="E9B94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2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02920" y="1335024"/>
            <a:ext cx="8165592" cy="1755648"/>
          </a:xfrm>
          <a:prstGeom prst="roundRect">
            <a:avLst>
              <a:gd name="adj" fmla="val 5208"/>
            </a:avLst>
          </a:prstGeom>
          <a:solidFill>
            <a:srgbClr val="16315F"/>
          </a:solidFill>
          <a:ln w="9525">
            <a:solidFill>
              <a:srgbClr val="2C4A82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49808" y="151790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world's biggest Twenty20 cricket league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49808" y="1938528"/>
            <a:ext cx="7680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Indian Premier League (IPL) is a professional Twenty20 (T20) cricket league launched by the BCCI in 2008. Across 19 seasons through 2026 it has become the world's most-watched T20 tournament, its 10 city-based franchises drawing elite global talent through high-profile annual auctions — with Chennai Super Kings and Mumbai Indians the most successful, on five titles each.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02920" y="3273552"/>
            <a:ext cx="1897380" cy="1417320"/>
          </a:xfrm>
          <a:prstGeom prst="roundRect">
            <a:avLst>
              <a:gd name="adj" fmla="val 5806"/>
            </a:avLst>
          </a:prstGeom>
          <a:solidFill>
            <a:srgbClr val="112A56"/>
          </a:solidFill>
          <a:ln w="9525">
            <a:solidFill>
              <a:srgbClr val="2C4A82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204722" y="3419856"/>
            <a:ext cx="493776" cy="493776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2" name="Image 1" descr="icons/calendar_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8166" y="3543300"/>
            <a:ext cx="246888" cy="2468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2920" y="3950208"/>
            <a:ext cx="18973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502920" y="4389120"/>
            <a:ext cx="1897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80" dirty="0">
                <a:solidFill>
                  <a:srgbClr val="AEC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LAUNCHED BY BCCI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2592324" y="3273552"/>
            <a:ext cx="1897380" cy="1417320"/>
          </a:xfrm>
          <a:prstGeom prst="roundRect">
            <a:avLst>
              <a:gd name="adj" fmla="val 5806"/>
            </a:avLst>
          </a:prstGeom>
          <a:solidFill>
            <a:srgbClr val="112A56"/>
          </a:solidFill>
          <a:ln w="9525">
            <a:solidFill>
              <a:srgbClr val="2C4A82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94126" y="3419856"/>
            <a:ext cx="493776" cy="493776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7" name="Image 2" descr="icons/history_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7570" y="3543300"/>
            <a:ext cx="246888" cy="2468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592324" y="3950208"/>
            <a:ext cx="18973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2800" dirty="0"/>
          </a:p>
        </p:txBody>
      </p:sp>
      <p:sp>
        <p:nvSpPr>
          <p:cNvPr id="19" name="Text 14"/>
          <p:cNvSpPr/>
          <p:nvPr/>
        </p:nvSpPr>
        <p:spPr>
          <a:xfrm>
            <a:off x="2592324" y="4389120"/>
            <a:ext cx="1897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80" dirty="0">
                <a:solidFill>
                  <a:srgbClr val="AEC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SEASONS, 2008–26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681728" y="3273552"/>
            <a:ext cx="1897380" cy="1417320"/>
          </a:xfrm>
          <a:prstGeom prst="roundRect">
            <a:avLst>
              <a:gd name="adj" fmla="val 5806"/>
            </a:avLst>
          </a:prstGeom>
          <a:solidFill>
            <a:srgbClr val="112A56"/>
          </a:solidFill>
          <a:ln w="9525">
            <a:solidFill>
              <a:srgbClr val="2C4A82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383530" y="3419856"/>
            <a:ext cx="493776" cy="493776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2" name="Image 3" descr="icons/users_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6974" y="3543300"/>
            <a:ext cx="246888" cy="2468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681728" y="3950208"/>
            <a:ext cx="18973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800" dirty="0"/>
          </a:p>
        </p:txBody>
      </p:sp>
      <p:sp>
        <p:nvSpPr>
          <p:cNvPr id="24" name="Text 18"/>
          <p:cNvSpPr/>
          <p:nvPr/>
        </p:nvSpPr>
        <p:spPr>
          <a:xfrm>
            <a:off x="4681728" y="4389120"/>
            <a:ext cx="1897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80" dirty="0">
                <a:solidFill>
                  <a:srgbClr val="AEC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IN 2026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6771132" y="3273552"/>
            <a:ext cx="1897380" cy="1417320"/>
          </a:xfrm>
          <a:prstGeom prst="roundRect">
            <a:avLst>
              <a:gd name="adj" fmla="val 5806"/>
            </a:avLst>
          </a:prstGeom>
          <a:solidFill>
            <a:srgbClr val="112A56"/>
          </a:solidFill>
          <a:ln w="9525">
            <a:solidFill>
              <a:srgbClr val="2C4A82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472934" y="3419856"/>
            <a:ext cx="493776" cy="493776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7" name="Image 4" descr="icons/trophy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6378" y="3543300"/>
            <a:ext cx="246888" cy="2468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771132" y="3950208"/>
            <a:ext cx="18973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29" name="Text 22"/>
          <p:cNvSpPr/>
          <p:nvPr/>
        </p:nvSpPr>
        <p:spPr>
          <a:xfrm>
            <a:off x="6771132" y="4389120"/>
            <a:ext cx="1897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80" dirty="0">
                <a:solidFill>
                  <a:srgbClr val="AEC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TITLES: CSK &amp; MI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0624"/>
            <a:ext cx="566928" cy="566928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" name="Image 0" descr="icons/baseball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" y="562356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114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PROJECT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88720" y="640080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Topic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8321040" y="411480"/>
            <a:ext cx="411480" cy="411480"/>
          </a:xfrm>
          <a:prstGeom prst="rect">
            <a:avLst/>
          </a:prstGeom>
          <a:solidFill>
            <a:srgbClr val="E9B94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2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02920" y="1335024"/>
            <a:ext cx="4709160" cy="3346704"/>
          </a:xfrm>
          <a:prstGeom prst="roundRect">
            <a:avLst>
              <a:gd name="adj" fmla="val 2732"/>
            </a:avLst>
          </a:prstGeom>
          <a:solidFill>
            <a:srgbClr val="16315F"/>
          </a:solidFill>
          <a:ln w="9525">
            <a:solidFill>
              <a:srgbClr val="2C4A82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49808" y="1554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Cricket Data Into Decisions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49808" y="1993392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is one of the most popular sports in India, and the IPL generates a massive amount of data from every match, player, team and season. This project was selected to explore how data analytics can transform raw cricket statistics into meaningful insight.</a:t>
            </a:r>
            <a:endParaRPr lang="en-US" sz="1350" dirty="0"/>
          </a:p>
          <a:p>
            <a:pPr marL="0" indent="0" algn="l">
              <a:lnSpc>
                <a:spcPct val="112000"/>
              </a:lnSpc>
              <a:buNone/>
            </a:pPr>
            <a:endParaRPr lang="en-US" sz="13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sports enthusiast and data analyst, IPL Analytics is a chance to apply Power BI, DAX and data modeling to a real-world dataset — building an interactive and visually engaging dashboard.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468112" y="1371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APPLIES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68112" y="1737360"/>
            <a:ext cx="3200400" cy="896112"/>
          </a:xfrm>
          <a:prstGeom prst="roundRect">
            <a:avLst>
              <a:gd name="adj" fmla="val 9184"/>
            </a:avLst>
          </a:prstGeom>
          <a:solidFill>
            <a:srgbClr val="112A56"/>
          </a:solidFill>
          <a:ln w="9525">
            <a:solidFill>
              <a:srgbClr val="2C4A82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32704" y="1929384"/>
            <a:ext cx="512064" cy="512064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3" name="Image 1" descr="icons/chartbar_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2057400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309360" y="18562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309360" y="213055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Interactive, visually engaging reporting dashboards.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68112" y="2724912"/>
            <a:ext cx="3200400" cy="896112"/>
          </a:xfrm>
          <a:prstGeom prst="roundRect">
            <a:avLst>
              <a:gd name="adj" fmla="val 9184"/>
            </a:avLst>
          </a:prstGeom>
          <a:solidFill>
            <a:srgbClr val="112A56"/>
          </a:solidFill>
          <a:ln w="9525">
            <a:solidFill>
              <a:srgbClr val="2C4A82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632704" y="2916936"/>
            <a:ext cx="512064" cy="512064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8" name="Image 2" descr="icons/table_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3044952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09360" y="284378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DAX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309360" y="3118104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measures and high-performance calculations.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68112" y="3712464"/>
            <a:ext cx="3200400" cy="896112"/>
          </a:xfrm>
          <a:prstGeom prst="roundRect">
            <a:avLst>
              <a:gd name="adj" fmla="val 9184"/>
            </a:avLst>
          </a:prstGeom>
          <a:solidFill>
            <a:srgbClr val="112A56"/>
          </a:solidFill>
          <a:ln w="9525">
            <a:solidFill>
              <a:srgbClr val="2C4A82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632704" y="3904488"/>
            <a:ext cx="512064" cy="512064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3" name="Image 3" descr="icons/sitemap_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0" y="4032504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309360" y="383133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Modeling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6309360" y="4105656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E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star schema over a real-world dataset.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0624"/>
            <a:ext cx="566928" cy="566928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" name="Image 0" descr="icons/bullseye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" y="562356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114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88720" y="640080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Relevance &amp; Real-World Impact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8321040" y="411480"/>
            <a:ext cx="411480" cy="411480"/>
          </a:xfrm>
          <a:prstGeom prst="rect">
            <a:avLst/>
          </a:prstGeom>
          <a:solidFill>
            <a:srgbClr val="E9B94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2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02920" y="1335024"/>
            <a:ext cx="8165592" cy="841248"/>
          </a:xfrm>
          <a:prstGeom prst="roundRect">
            <a:avLst>
              <a:gd name="adj" fmla="val 9783"/>
            </a:avLst>
          </a:prstGeom>
          <a:solidFill>
            <a:srgbClr val="10306A"/>
          </a:solidFill>
          <a:ln w="12700">
            <a:solidFill>
              <a:srgbClr val="E9B949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13232" y="1499616"/>
            <a:ext cx="512064" cy="512064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9" name="Image 1" descr="icons/bolt_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162763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08176" y="146304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RELEVANCE OF SPORTS ANALYTICS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408176" y="173736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strategies are now vital for player acquisitions, roster building and on-field team game plans.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02920" y="2377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BUSINESS CASES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02920" y="2724912"/>
            <a:ext cx="2615184" cy="1975104"/>
          </a:xfrm>
          <a:prstGeom prst="roundRect">
            <a:avLst>
              <a:gd name="adj" fmla="val 4630"/>
            </a:avLst>
          </a:prstGeom>
          <a:solidFill>
            <a:srgbClr val="16315F"/>
          </a:solidFill>
          <a:ln w="9525">
            <a:solidFill>
              <a:srgbClr val="2C4A82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1481328" y="2962656"/>
            <a:ext cx="658368" cy="658368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5" name="Image 2" descr="icons/gavel_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5920" y="312724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5800" y="3712464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Auction Valuation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722376" y="4114800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dirty="0">
                <a:solidFill>
                  <a:srgbClr val="AE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market bids using historical match-up advantage and player statistics.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3278124" y="2724912"/>
            <a:ext cx="2615184" cy="1975104"/>
          </a:xfrm>
          <a:prstGeom prst="roundRect">
            <a:avLst>
              <a:gd name="adj" fmla="val 4630"/>
            </a:avLst>
          </a:prstGeom>
          <a:solidFill>
            <a:srgbClr val="16315F"/>
          </a:solidFill>
          <a:ln w="9525">
            <a:solidFill>
              <a:srgbClr val="2C4A82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256532" y="2962656"/>
            <a:ext cx="658368" cy="658368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0" name="Image 3" descr="icons/chess_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1124" y="3127248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461004" y="3712464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Tactical Game Strategy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3497580" y="4114800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dirty="0">
                <a:solidFill>
                  <a:srgbClr val="AE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venue patterns to make data-backed batting and fielding decisions.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053328" y="2724912"/>
            <a:ext cx="2615184" cy="1975104"/>
          </a:xfrm>
          <a:prstGeom prst="roundRect">
            <a:avLst>
              <a:gd name="adj" fmla="val 4630"/>
            </a:avLst>
          </a:prstGeom>
          <a:solidFill>
            <a:srgbClr val="16315F"/>
          </a:solidFill>
          <a:ln w="9525">
            <a:solidFill>
              <a:srgbClr val="2C4A82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031736" y="2962656"/>
            <a:ext cx="658368" cy="658368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5" name="Image 4" descr="icons/trophy_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96328" y="3127248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236208" y="3712464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Recognition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6272784" y="4114800"/>
            <a:ext cx="21762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50" dirty="0">
                <a:solidFill>
                  <a:srgbClr val="AE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the MVP match-winners who consistently deliver under pressure.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0624"/>
            <a:ext cx="566928" cy="566928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" name="Image 0" descr="icons/gavel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" y="562356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114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01 · IN DETAIL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88720" y="640080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Auction Valuation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8321040" y="411480"/>
            <a:ext cx="411480" cy="411480"/>
          </a:xfrm>
          <a:prstGeom prst="rect">
            <a:avLst/>
          </a:prstGeom>
          <a:solidFill>
            <a:srgbClr val="E9B94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2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30352" y="113385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AE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season data and match-up history convert into a disciplined bid ceiling.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7373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DRIVERS</a:t>
            </a:r>
            <a:r>
              <a:rPr lang="en-US" sz="1100" i="1" dirty="0">
                <a:solidFill>
                  <a:srgbClr val="829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relative weighting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2084832"/>
            <a:ext cx="1897380" cy="868680"/>
          </a:xfrm>
          <a:prstGeom prst="roundRect">
            <a:avLst>
              <a:gd name="adj" fmla="val 9474"/>
            </a:avLst>
          </a:prstGeom>
          <a:solidFill>
            <a:srgbClr val="112A56"/>
          </a:solidFill>
          <a:ln w="12700">
            <a:solidFill>
              <a:srgbClr val="2C4A82"/>
            </a:solidFill>
            <a:prstDash val="solid"/>
          </a:ln>
          <a:effectLst>
            <a:outerShdw blurRad="889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76072" y="2084832"/>
            <a:ext cx="1751076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endParaRPr lang="en-US" sz="1250" dirty="0"/>
          </a:p>
        </p:txBody>
      </p:sp>
      <p:pic>
        <p:nvPicPr>
          <p:cNvPr id="11" name="Image 1" descr="icons/chartb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222199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14984" y="2194560"/>
            <a:ext cx="9829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form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1924812" y="219456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9224" y="2615184"/>
            <a:ext cx="1604772" cy="118872"/>
          </a:xfrm>
          <a:prstGeom prst="roundRect">
            <a:avLst>
              <a:gd name="adj" fmla="val 46154"/>
            </a:avLst>
          </a:prstGeom>
          <a:solidFill>
            <a:srgbClr val="0C2350"/>
          </a:solidFill>
          <a:ln/>
        </p:spPr>
      </p:sp>
      <p:sp>
        <p:nvSpPr>
          <p:cNvPr id="15" name="Shape 11"/>
          <p:cNvSpPr/>
          <p:nvPr/>
        </p:nvSpPr>
        <p:spPr>
          <a:xfrm>
            <a:off x="649224" y="2615184"/>
            <a:ext cx="1364056" cy="118872"/>
          </a:xfrm>
          <a:prstGeom prst="roundRect">
            <a:avLst>
              <a:gd name="adj" fmla="val 46154"/>
            </a:avLst>
          </a:prstGeom>
          <a:solidFill>
            <a:srgbClr val="E9B949"/>
          </a:solidFill>
          <a:ln/>
        </p:spPr>
      </p:sp>
      <p:sp>
        <p:nvSpPr>
          <p:cNvPr id="16" name="Shape 12"/>
          <p:cNvSpPr/>
          <p:nvPr/>
        </p:nvSpPr>
        <p:spPr>
          <a:xfrm>
            <a:off x="2583180" y="2084832"/>
            <a:ext cx="1897380" cy="868680"/>
          </a:xfrm>
          <a:prstGeom prst="roundRect">
            <a:avLst>
              <a:gd name="adj" fmla="val 9474"/>
            </a:avLst>
          </a:prstGeom>
          <a:solidFill>
            <a:srgbClr val="112A56"/>
          </a:solidFill>
          <a:ln w="12700">
            <a:solidFill>
              <a:srgbClr val="2C4A82"/>
            </a:solidFill>
            <a:prstDash val="solid"/>
          </a:ln>
          <a:effectLst>
            <a:outerShdw blurRad="889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2656332" y="2084832"/>
            <a:ext cx="1751076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endParaRPr lang="en-US" sz="1250" dirty="0"/>
          </a:p>
        </p:txBody>
      </p:sp>
      <p:pic>
        <p:nvPicPr>
          <p:cNvPr id="18" name="Image 2" descr="icons/histo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9484" y="222199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095244" y="2194560"/>
            <a:ext cx="9829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005072" y="219456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2729484" y="2615184"/>
            <a:ext cx="1604772" cy="118872"/>
          </a:xfrm>
          <a:prstGeom prst="roundRect">
            <a:avLst>
              <a:gd name="adj" fmla="val 46154"/>
            </a:avLst>
          </a:prstGeom>
          <a:solidFill>
            <a:srgbClr val="0C2350"/>
          </a:solidFill>
          <a:ln/>
        </p:spPr>
      </p:sp>
      <p:sp>
        <p:nvSpPr>
          <p:cNvPr id="22" name="Shape 17"/>
          <p:cNvSpPr/>
          <p:nvPr/>
        </p:nvSpPr>
        <p:spPr>
          <a:xfrm>
            <a:off x="2729484" y="2615184"/>
            <a:ext cx="1123340" cy="118872"/>
          </a:xfrm>
          <a:prstGeom prst="roundRect">
            <a:avLst>
              <a:gd name="adj" fmla="val 46154"/>
            </a:avLst>
          </a:prstGeom>
          <a:solidFill>
            <a:srgbClr val="E9B949"/>
          </a:solidFill>
          <a:ln/>
        </p:spPr>
      </p:sp>
      <p:sp>
        <p:nvSpPr>
          <p:cNvPr id="23" name="Shape 18"/>
          <p:cNvSpPr/>
          <p:nvPr/>
        </p:nvSpPr>
        <p:spPr>
          <a:xfrm>
            <a:off x="4663440" y="2084832"/>
            <a:ext cx="1897380" cy="868680"/>
          </a:xfrm>
          <a:prstGeom prst="roundRect">
            <a:avLst>
              <a:gd name="adj" fmla="val 9474"/>
            </a:avLst>
          </a:prstGeom>
          <a:solidFill>
            <a:srgbClr val="112A56"/>
          </a:solidFill>
          <a:ln w="12700">
            <a:solidFill>
              <a:srgbClr val="2C4A82"/>
            </a:solidFill>
            <a:prstDash val="solid"/>
          </a:ln>
          <a:effectLst>
            <a:outerShdw blurRad="889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4736592" y="2084832"/>
            <a:ext cx="1751076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endParaRPr lang="en-US" sz="1250" dirty="0"/>
          </a:p>
        </p:txBody>
      </p:sp>
      <p:pic>
        <p:nvPicPr>
          <p:cNvPr id="25" name="Image 3" descr="icons/exchan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9744" y="2221992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175504" y="2194560"/>
            <a:ext cx="9829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Match-up edge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6085332" y="219456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4809744" y="2615184"/>
            <a:ext cx="1604772" cy="118872"/>
          </a:xfrm>
          <a:prstGeom prst="roundRect">
            <a:avLst>
              <a:gd name="adj" fmla="val 46154"/>
            </a:avLst>
          </a:prstGeom>
          <a:solidFill>
            <a:srgbClr val="0C2350"/>
          </a:solidFill>
          <a:ln/>
        </p:spPr>
      </p:sp>
      <p:sp>
        <p:nvSpPr>
          <p:cNvPr id="29" name="Shape 23"/>
          <p:cNvSpPr/>
          <p:nvPr/>
        </p:nvSpPr>
        <p:spPr>
          <a:xfrm>
            <a:off x="4809744" y="2615184"/>
            <a:ext cx="1283818" cy="118872"/>
          </a:xfrm>
          <a:prstGeom prst="roundRect">
            <a:avLst>
              <a:gd name="adj" fmla="val 46154"/>
            </a:avLst>
          </a:prstGeom>
          <a:solidFill>
            <a:srgbClr val="E9B949"/>
          </a:solidFill>
          <a:ln/>
        </p:spPr>
      </p:sp>
      <p:sp>
        <p:nvSpPr>
          <p:cNvPr id="30" name="Shape 24"/>
          <p:cNvSpPr/>
          <p:nvPr/>
        </p:nvSpPr>
        <p:spPr>
          <a:xfrm>
            <a:off x="6743700" y="2084832"/>
            <a:ext cx="1897380" cy="868680"/>
          </a:xfrm>
          <a:prstGeom prst="roundRect">
            <a:avLst>
              <a:gd name="adj" fmla="val 9474"/>
            </a:avLst>
          </a:prstGeom>
          <a:solidFill>
            <a:srgbClr val="112A56"/>
          </a:solidFill>
          <a:ln w="12700">
            <a:solidFill>
              <a:srgbClr val="2C4A82"/>
            </a:solidFill>
            <a:prstDash val="solid"/>
          </a:ln>
          <a:effectLst>
            <a:outerShdw blurRad="889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6816852" y="2084832"/>
            <a:ext cx="1751076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endParaRPr lang="en-US" sz="1250" dirty="0"/>
          </a:p>
        </p:txBody>
      </p:sp>
      <p:pic>
        <p:nvPicPr>
          <p:cNvPr id="32" name="Image 4" descr="icons/use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90004" y="2221992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255764" y="2194560"/>
            <a:ext cx="9829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&amp; scarcity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8165592" y="219456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6890004" y="2615184"/>
            <a:ext cx="1604772" cy="118872"/>
          </a:xfrm>
          <a:prstGeom prst="roundRect">
            <a:avLst>
              <a:gd name="adj" fmla="val 46154"/>
            </a:avLst>
          </a:prstGeom>
          <a:solidFill>
            <a:srgbClr val="0C2350"/>
          </a:solidFill>
          <a:ln/>
        </p:spPr>
      </p:sp>
      <p:sp>
        <p:nvSpPr>
          <p:cNvPr id="36" name="Shape 29"/>
          <p:cNvSpPr/>
          <p:nvPr/>
        </p:nvSpPr>
        <p:spPr>
          <a:xfrm>
            <a:off x="6890004" y="2615184"/>
            <a:ext cx="882625" cy="118872"/>
          </a:xfrm>
          <a:prstGeom prst="roundRect">
            <a:avLst>
              <a:gd name="adj" fmla="val 46154"/>
            </a:avLst>
          </a:prstGeom>
          <a:solidFill>
            <a:srgbClr val="E9B949"/>
          </a:solidFill>
          <a:ln/>
        </p:spPr>
      </p:sp>
      <p:sp>
        <p:nvSpPr>
          <p:cNvPr id="37" name="Shape 30"/>
          <p:cNvSpPr/>
          <p:nvPr/>
        </p:nvSpPr>
        <p:spPr>
          <a:xfrm>
            <a:off x="4572000" y="3017520"/>
            <a:ext cx="0" cy="292608"/>
          </a:xfrm>
          <a:prstGeom prst="line">
            <a:avLst/>
          </a:prstGeom>
          <a:noFill/>
          <a:ln w="31750">
            <a:solidFill>
              <a:srgbClr val="E9B949"/>
            </a:solidFill>
            <a:prstDash val="solid"/>
            <a:tailEnd type="triangle"/>
          </a:ln>
        </p:spPr>
      </p:sp>
      <p:sp>
        <p:nvSpPr>
          <p:cNvPr id="38" name="Text 31"/>
          <p:cNvSpPr/>
          <p:nvPr/>
        </p:nvSpPr>
        <p:spPr>
          <a:xfrm>
            <a:off x="502920" y="33284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DISCIPLINED BID CEILING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914400" y="3822192"/>
            <a:ext cx="7315200" cy="310896"/>
          </a:xfrm>
          <a:prstGeom prst="roundRect">
            <a:avLst>
              <a:gd name="adj" fmla="val 14706"/>
            </a:avLst>
          </a:prstGeom>
          <a:solidFill>
            <a:srgbClr val="112A56"/>
          </a:solidFill>
          <a:ln w="12700">
            <a:solidFill>
              <a:srgbClr val="2C4A82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2523744" y="3822192"/>
            <a:ext cx="3511296" cy="310896"/>
          </a:xfrm>
          <a:prstGeom prst="rect">
            <a:avLst/>
          </a:prstGeom>
          <a:solidFill>
            <a:srgbClr val="2FA968">
              <a:alpha val="58000"/>
            </a:srgbClr>
          </a:solidFill>
          <a:ln/>
        </p:spPr>
      </p:sp>
      <p:sp>
        <p:nvSpPr>
          <p:cNvPr id="41" name="Shape 34"/>
          <p:cNvSpPr/>
          <p:nvPr/>
        </p:nvSpPr>
        <p:spPr>
          <a:xfrm>
            <a:off x="6035040" y="3822192"/>
            <a:ext cx="2194560" cy="310896"/>
          </a:xfrm>
          <a:prstGeom prst="rect">
            <a:avLst/>
          </a:prstGeom>
          <a:solidFill>
            <a:srgbClr val="D9483B">
              <a:alpha val="55000"/>
            </a:srgbClr>
          </a:solidFill>
          <a:ln/>
        </p:spPr>
      </p:sp>
      <p:sp>
        <p:nvSpPr>
          <p:cNvPr id="42" name="Text 35"/>
          <p:cNvSpPr/>
          <p:nvPr/>
        </p:nvSpPr>
        <p:spPr>
          <a:xfrm>
            <a:off x="2523744" y="3822192"/>
            <a:ext cx="3511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BID ZONE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6035040" y="382219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E2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OVERPAY</a:t>
            </a:r>
            <a:endParaRPr lang="en-US" sz="900" dirty="0"/>
          </a:p>
        </p:txBody>
      </p:sp>
      <p:sp>
        <p:nvSpPr>
          <p:cNvPr id="44" name="Text 37"/>
          <p:cNvSpPr/>
          <p:nvPr/>
        </p:nvSpPr>
        <p:spPr>
          <a:xfrm>
            <a:off x="896112" y="41696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29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₹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6858000" y="41696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29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price →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2523744" y="3730752"/>
            <a:ext cx="0" cy="493776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1746504" y="416966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E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price</a:t>
            </a:r>
            <a:endParaRPr lang="en-US" sz="950" dirty="0"/>
          </a:p>
        </p:txBody>
      </p:sp>
      <p:sp>
        <p:nvSpPr>
          <p:cNvPr id="48" name="Shape 41"/>
          <p:cNvSpPr/>
          <p:nvPr/>
        </p:nvSpPr>
        <p:spPr>
          <a:xfrm>
            <a:off x="4718304" y="3566160"/>
            <a:ext cx="0" cy="640080"/>
          </a:xfrm>
          <a:prstGeom prst="line">
            <a:avLst/>
          </a:prstGeom>
          <a:noFill/>
          <a:ln w="34925">
            <a:solidFill>
              <a:srgbClr val="E9B949"/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4654296" y="3511296"/>
            <a:ext cx="128016" cy="128016"/>
          </a:xfrm>
          <a:prstGeom prst="ellipse">
            <a:avLst/>
          </a:prstGeom>
          <a:solidFill>
            <a:srgbClr val="E9B949"/>
          </a:solidFill>
          <a:ln/>
        </p:spPr>
      </p:sp>
      <p:sp>
        <p:nvSpPr>
          <p:cNvPr id="50" name="Text 43"/>
          <p:cNvSpPr/>
          <p:nvPr/>
        </p:nvSpPr>
        <p:spPr>
          <a:xfrm>
            <a:off x="4032504" y="32552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value</a:t>
            </a:r>
            <a:endParaRPr lang="en-US" sz="1050" dirty="0"/>
          </a:p>
        </p:txBody>
      </p:sp>
      <p:sp>
        <p:nvSpPr>
          <p:cNvPr id="51" name="Shape 44"/>
          <p:cNvSpPr/>
          <p:nvPr/>
        </p:nvSpPr>
        <p:spPr>
          <a:xfrm>
            <a:off x="6035040" y="3566160"/>
            <a:ext cx="0" cy="640080"/>
          </a:xfrm>
          <a:prstGeom prst="line">
            <a:avLst/>
          </a:prstGeom>
          <a:noFill/>
          <a:ln w="41275">
            <a:solidFill>
              <a:srgbClr val="D9483B"/>
            </a:solidFill>
            <a:prstDash val="solid"/>
          </a:ln>
        </p:spPr>
      </p:sp>
      <p:sp>
        <p:nvSpPr>
          <p:cNvPr id="52" name="Shape 45"/>
          <p:cNvSpPr/>
          <p:nvPr/>
        </p:nvSpPr>
        <p:spPr>
          <a:xfrm>
            <a:off x="5971032" y="3511296"/>
            <a:ext cx="128016" cy="128016"/>
          </a:xfrm>
          <a:prstGeom prst="ellipse">
            <a:avLst/>
          </a:prstGeom>
          <a:solidFill>
            <a:srgbClr val="D9483B"/>
          </a:solidFill>
          <a:ln/>
        </p:spPr>
      </p:sp>
      <p:sp>
        <p:nvSpPr>
          <p:cNvPr id="53" name="Text 46"/>
          <p:cNvSpPr/>
          <p:nvPr/>
        </p:nvSpPr>
        <p:spPr>
          <a:xfrm>
            <a:off x="5349240" y="32552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A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 ceiling</a:t>
            </a:r>
            <a:endParaRPr lang="en-US" sz="1050" dirty="0"/>
          </a:p>
        </p:txBody>
      </p:sp>
      <p:sp>
        <p:nvSpPr>
          <p:cNvPr id="54" name="Shape 47"/>
          <p:cNvSpPr/>
          <p:nvPr/>
        </p:nvSpPr>
        <p:spPr>
          <a:xfrm>
            <a:off x="2377440" y="4498848"/>
            <a:ext cx="4389120" cy="402336"/>
          </a:xfrm>
          <a:prstGeom prst="roundRect">
            <a:avLst>
              <a:gd name="adj" fmla="val 50000"/>
            </a:avLst>
          </a:prstGeom>
          <a:solidFill>
            <a:srgbClr val="10306A"/>
          </a:solidFill>
          <a:ln w="12700">
            <a:solidFill>
              <a:srgbClr val="E9B949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55" name="Image 5" descr="icons/che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06040" y="4590288"/>
            <a:ext cx="219456" cy="219456"/>
          </a:xfrm>
          <a:prstGeom prst="rect">
            <a:avLst/>
          </a:prstGeom>
        </p:spPr>
      </p:pic>
      <p:sp>
        <p:nvSpPr>
          <p:cNvPr id="56" name="Text 48"/>
          <p:cNvSpPr/>
          <p:nvPr/>
        </p:nvSpPr>
        <p:spPr>
          <a:xfrm>
            <a:off x="2926080" y="449884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 up to the ceiling — then walk away.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0624"/>
            <a:ext cx="566928" cy="566928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" name="Image 0" descr="icons/compass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" y="562356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114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02 · IN DETAIL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88720" y="640080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Tactical Game Strategy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8321040" y="411480"/>
            <a:ext cx="411480" cy="411480"/>
          </a:xfrm>
          <a:prstGeom prst="rect">
            <a:avLst/>
          </a:prstGeom>
          <a:solidFill>
            <a:srgbClr val="E9B94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2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30352" y="113385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AE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venue history and the toss into a bat-or-field call and field settings.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011680"/>
            <a:ext cx="1865376" cy="1298448"/>
          </a:xfrm>
          <a:prstGeom prst="roundRect">
            <a:avLst>
              <a:gd name="adj" fmla="val 6338"/>
            </a:avLst>
          </a:prstGeom>
          <a:solidFill>
            <a:srgbClr val="112A56"/>
          </a:solidFill>
          <a:ln w="12700">
            <a:solidFill>
              <a:srgbClr val="2C4A82"/>
            </a:solidFill>
            <a:prstDash val="solid"/>
          </a:ln>
          <a:effectLst>
            <a:outerShdw blurRad="88900" dist="254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9" name="Image 1" descr="icons/coi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2139696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76072" y="2468880"/>
            <a:ext cx="1719072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Toss Outcome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94360" y="2926080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AE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or lost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615184" y="2011680"/>
            <a:ext cx="1865376" cy="1298448"/>
          </a:xfrm>
          <a:prstGeom prst="roundRect">
            <a:avLst>
              <a:gd name="adj" fmla="val 6338"/>
            </a:avLst>
          </a:prstGeom>
          <a:solidFill>
            <a:srgbClr val="112A56"/>
          </a:solidFill>
          <a:ln w="12700">
            <a:solidFill>
              <a:srgbClr val="2C4A82"/>
            </a:solidFill>
            <a:prstDash val="solid"/>
          </a:ln>
          <a:effectLst>
            <a:outerShdw blurRad="88900" dist="254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3" name="Image 2" descr="icons/chartare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2424" y="2139696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688336" y="2468880"/>
            <a:ext cx="1719072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 &amp; Conditions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2706624" y="2926080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AE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1st-inns avg · chasing win % · pitch &amp; dew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4727448" y="2011680"/>
            <a:ext cx="1865376" cy="1298448"/>
          </a:xfrm>
          <a:prstGeom prst="roundRect">
            <a:avLst>
              <a:gd name="adj" fmla="val 6338"/>
            </a:avLst>
          </a:prstGeom>
          <a:solidFill>
            <a:srgbClr val="E9B949"/>
          </a:solidFill>
          <a:ln w="12700">
            <a:solidFill>
              <a:srgbClr val="2C4A82"/>
            </a:solidFill>
            <a:prstDash val="solid"/>
          </a:ln>
          <a:effectLst>
            <a:outerShdw blurRad="88900" dist="254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7" name="Image 3" descr="icons/balance_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4688" y="2139696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800600" y="2468880"/>
            <a:ext cx="1719072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C2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 or Field?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4818888" y="2926080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5A4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data-backed call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6839712" y="2011680"/>
            <a:ext cx="1865376" cy="1298448"/>
          </a:xfrm>
          <a:prstGeom prst="roundRect">
            <a:avLst>
              <a:gd name="adj" fmla="val 6338"/>
            </a:avLst>
          </a:prstGeom>
          <a:solidFill>
            <a:srgbClr val="112A56"/>
          </a:solidFill>
          <a:ln w="12700">
            <a:solidFill>
              <a:srgbClr val="2C4A82"/>
            </a:solidFill>
            <a:prstDash val="solid"/>
          </a:ln>
          <a:effectLst>
            <a:outerShdw blurRad="88900" dist="25400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1" name="Image 4" descr="icons/shie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6952" y="2139696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912864" y="2468880"/>
            <a:ext cx="1719072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&amp; Match-ups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6931152" y="2926080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AE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placements &amp; bowling plans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2395728" y="2660904"/>
            <a:ext cx="192024" cy="0"/>
          </a:xfrm>
          <a:prstGeom prst="line">
            <a:avLst/>
          </a:prstGeom>
          <a:noFill/>
          <a:ln w="31750">
            <a:solidFill>
              <a:srgbClr val="E9B949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4507992" y="2660904"/>
            <a:ext cx="192024" cy="0"/>
          </a:xfrm>
          <a:prstGeom prst="line">
            <a:avLst/>
          </a:prstGeom>
          <a:noFill/>
          <a:ln w="31750">
            <a:solidFill>
              <a:srgbClr val="E9B949"/>
            </a:solidFill>
            <a:prstDash val="solid"/>
            <a:tailEnd type="triangle"/>
          </a:ln>
        </p:spPr>
      </p:sp>
      <p:sp>
        <p:nvSpPr>
          <p:cNvPr id="26" name="Shape 19"/>
          <p:cNvSpPr/>
          <p:nvPr/>
        </p:nvSpPr>
        <p:spPr>
          <a:xfrm>
            <a:off x="6620256" y="2660904"/>
            <a:ext cx="192024" cy="0"/>
          </a:xfrm>
          <a:prstGeom prst="line">
            <a:avLst/>
          </a:prstGeom>
          <a:noFill/>
          <a:ln w="31750">
            <a:solidFill>
              <a:srgbClr val="E9B949"/>
            </a:solidFill>
            <a:prstDash val="solid"/>
            <a:tailEnd type="triangle"/>
          </a:ln>
        </p:spPr>
      </p:sp>
      <p:sp>
        <p:nvSpPr>
          <p:cNvPr id="27" name="Shape 20"/>
          <p:cNvSpPr/>
          <p:nvPr/>
        </p:nvSpPr>
        <p:spPr>
          <a:xfrm>
            <a:off x="502920" y="3657600"/>
            <a:ext cx="8138160" cy="512064"/>
          </a:xfrm>
          <a:prstGeom prst="roundRect">
            <a:avLst>
              <a:gd name="adj" fmla="val 16071"/>
            </a:avLst>
          </a:prstGeom>
          <a:solidFill>
            <a:srgbClr val="112A56"/>
          </a:solidFill>
          <a:ln w="12700">
            <a:solidFill>
              <a:srgbClr val="2C4A82"/>
            </a:solidFill>
            <a:prstDash val="solid"/>
          </a:ln>
          <a:effectLst>
            <a:outerShdw blurRad="889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21"/>
          <p:cNvSpPr/>
          <p:nvPr/>
        </p:nvSpPr>
        <p:spPr>
          <a:xfrm>
            <a:off x="576072" y="3657600"/>
            <a:ext cx="7991856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endParaRPr lang="en-US" sz="1250" dirty="0"/>
          </a:p>
        </p:txBody>
      </p:sp>
      <p:pic>
        <p:nvPicPr>
          <p:cNvPr id="29" name="Image 5" descr="icons/che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656" y="3803904"/>
            <a:ext cx="219456" cy="21945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005840" y="3657600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first  </a:t>
            </a:r>
            <a:r>
              <a:rPr lang="en-US" sz="12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chasing is favoured — high chase win %, dew expected.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502920" y="4261104"/>
            <a:ext cx="8138160" cy="512064"/>
          </a:xfrm>
          <a:prstGeom prst="roundRect">
            <a:avLst>
              <a:gd name="adj" fmla="val 16071"/>
            </a:avLst>
          </a:prstGeom>
          <a:solidFill>
            <a:srgbClr val="112A56"/>
          </a:solidFill>
          <a:ln w="12700">
            <a:solidFill>
              <a:srgbClr val="2C4A82"/>
            </a:solidFill>
            <a:prstDash val="solid"/>
          </a:ln>
          <a:effectLst>
            <a:outerShdw blurRad="889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Text 24"/>
          <p:cNvSpPr/>
          <p:nvPr/>
        </p:nvSpPr>
        <p:spPr>
          <a:xfrm>
            <a:off x="576072" y="4261104"/>
            <a:ext cx="7991856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endParaRPr lang="en-US" sz="1250" dirty="0"/>
          </a:p>
        </p:txBody>
      </p:sp>
      <p:pic>
        <p:nvPicPr>
          <p:cNvPr id="33" name="Image 6" descr="icons/che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656" y="4407408"/>
            <a:ext cx="219456" cy="21945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005840" y="4261104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B9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 first  </a:t>
            </a:r>
            <a:r>
              <a:rPr lang="en-US" sz="12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defending holds up — big first-innings scores at the venue.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0624"/>
            <a:ext cx="566928" cy="566928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" name="Image 0" descr="icons/trophy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" y="562356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114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03 · IN DETAIL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88720" y="640080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Recognition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8321040" y="411480"/>
            <a:ext cx="411480" cy="411480"/>
          </a:xfrm>
          <a:prstGeom prst="rect">
            <a:avLst/>
          </a:prstGeom>
          <a:solidFill>
            <a:srgbClr val="E9B94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2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30352" y="113385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AE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Weighting raw output by context to surface the players who actually win matches.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1691640"/>
            <a:ext cx="4754880" cy="877824"/>
          </a:xfrm>
          <a:prstGeom prst="roundRect">
            <a:avLst>
              <a:gd name="adj" fmla="val 9375"/>
            </a:avLst>
          </a:prstGeom>
          <a:solidFill>
            <a:srgbClr val="112A56"/>
          </a:solidFill>
          <a:ln w="12700">
            <a:solidFill>
              <a:srgbClr val="2C4A82"/>
            </a:solidFill>
            <a:prstDash val="solid"/>
          </a:ln>
          <a:effectLst>
            <a:outerShdw blurRad="889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13232" y="1691640"/>
            <a:ext cx="4608576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" y="183794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Performances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22219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E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· wickets · strike &amp; economy rates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188720" y="2752344"/>
            <a:ext cx="3657600" cy="877824"/>
          </a:xfrm>
          <a:prstGeom prst="roundRect">
            <a:avLst>
              <a:gd name="adj" fmla="val 9375"/>
            </a:avLst>
          </a:prstGeom>
          <a:solidFill>
            <a:srgbClr val="163A6E"/>
          </a:solidFill>
          <a:ln w="12700">
            <a:solidFill>
              <a:srgbClr val="2C4A82"/>
            </a:solidFill>
            <a:prstDash val="solid"/>
          </a:ln>
          <a:effectLst>
            <a:outerShdw blurRad="889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261872" y="2752344"/>
            <a:ext cx="3511296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188720" y="2898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Weighting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188720" y="32826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E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importance · pressure · innings phase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1691640" y="3813048"/>
            <a:ext cx="2651760" cy="877824"/>
          </a:xfrm>
          <a:prstGeom prst="roundRect">
            <a:avLst>
              <a:gd name="adj" fmla="val 9375"/>
            </a:avLst>
          </a:prstGeom>
          <a:solidFill>
            <a:srgbClr val="E9B949"/>
          </a:solidFill>
          <a:ln w="12700">
            <a:solidFill>
              <a:srgbClr val="2C4A82"/>
            </a:solidFill>
            <a:prstDash val="solid"/>
          </a:ln>
          <a:effectLst>
            <a:outerShdw blurRad="889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1764792" y="3813048"/>
            <a:ext cx="2505456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691640" y="39593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2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Match-Winners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691640" y="4343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4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clutch POTM &amp; finishers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017520" y="2587752"/>
            <a:ext cx="0" cy="146304"/>
          </a:xfrm>
          <a:prstGeom prst="line">
            <a:avLst/>
          </a:prstGeom>
          <a:noFill/>
          <a:ln w="31750">
            <a:solidFill>
              <a:srgbClr val="E9B949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3017520" y="3648456"/>
            <a:ext cx="0" cy="146304"/>
          </a:xfrm>
          <a:prstGeom prst="line">
            <a:avLst/>
          </a:prstGeom>
          <a:noFill/>
          <a:ln w="31750">
            <a:solidFill>
              <a:srgbClr val="E9B949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5806440" y="1783080"/>
            <a:ext cx="2834640" cy="3017520"/>
          </a:xfrm>
          <a:prstGeom prst="roundRect">
            <a:avLst>
              <a:gd name="adj" fmla="val 3226"/>
            </a:avLst>
          </a:prstGeom>
          <a:solidFill>
            <a:srgbClr val="16315F"/>
          </a:solidFill>
          <a:ln w="9525">
            <a:solidFill>
              <a:srgbClr val="2C4A82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998464" y="1975104"/>
            <a:ext cx="420624" cy="420624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4" name="Image 1" descr="icons/lightbulb_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3620" y="2080260"/>
            <a:ext cx="210312" cy="21031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510528" y="19933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00" dirty="0"/>
          </a:p>
        </p:txBody>
      </p:sp>
      <p:pic>
        <p:nvPicPr>
          <p:cNvPr id="26" name="Image 2" descr="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2743200"/>
            <a:ext cx="182880" cy="1828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309360" y="26791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totals reward volume, not impact.</a:t>
            </a:r>
            <a:endParaRPr lang="en-US" sz="1200" dirty="0"/>
          </a:p>
        </p:txBody>
      </p:sp>
      <p:pic>
        <p:nvPicPr>
          <p:cNvPr id="28" name="Image 3" descr="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3419856"/>
            <a:ext cx="182880" cy="1828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309360" y="33558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exposes clutch contributions others miss.</a:t>
            </a:r>
            <a:endParaRPr lang="en-US" sz="1200" dirty="0"/>
          </a:p>
        </p:txBody>
      </p:sp>
      <p:pic>
        <p:nvPicPr>
          <p:cNvPr id="30" name="Image 4" descr="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4096512"/>
            <a:ext cx="182880" cy="1828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309360" y="403250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Pinpoints who to retain, reward and promote.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0624"/>
            <a:ext cx="566928" cy="566928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" name="Image 0" descr="icons/database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" y="562356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114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WORKED WITH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88720" y="640080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Description &amp; Structure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8321040" y="411480"/>
            <a:ext cx="411480" cy="411480"/>
          </a:xfrm>
          <a:prstGeom prst="rect">
            <a:avLst/>
          </a:prstGeom>
          <a:solidFill>
            <a:srgbClr val="E9B94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2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02920" y="1316736"/>
            <a:ext cx="2715768" cy="1024128"/>
          </a:xfrm>
          <a:prstGeom prst="roundRect">
            <a:avLst>
              <a:gd name="adj" fmla="val 8036"/>
            </a:avLst>
          </a:prstGeom>
          <a:solidFill>
            <a:srgbClr val="112A56"/>
          </a:solidFill>
          <a:ln w="9525">
            <a:solidFill>
              <a:srgbClr val="2C4A82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" y="1371600"/>
            <a:ext cx="2715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02920" y="1938528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AEC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SEASONS (2008–2022)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10712" y="1316736"/>
            <a:ext cx="2715768" cy="1024128"/>
          </a:xfrm>
          <a:prstGeom prst="roundRect">
            <a:avLst>
              <a:gd name="adj" fmla="val 8036"/>
            </a:avLst>
          </a:prstGeom>
          <a:solidFill>
            <a:srgbClr val="112A56"/>
          </a:solidFill>
          <a:ln w="9525">
            <a:solidFill>
              <a:srgbClr val="2C4A82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10712" y="1371600"/>
            <a:ext cx="2715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225K+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3410712" y="1938528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AEC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BALL-BY-BALL DELIVERIES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318504" y="1316736"/>
            <a:ext cx="2715768" cy="1024128"/>
          </a:xfrm>
          <a:prstGeom prst="roundRect">
            <a:avLst>
              <a:gd name="adj" fmla="val 8036"/>
            </a:avLst>
          </a:prstGeom>
          <a:solidFill>
            <a:srgbClr val="112A56"/>
          </a:solidFill>
          <a:ln w="9525">
            <a:solidFill>
              <a:srgbClr val="2C4A82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318504" y="1371600"/>
            <a:ext cx="2715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950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6318504" y="1938528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AEC0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MATCHES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2542032"/>
            <a:ext cx="2715768" cy="2157984"/>
          </a:xfrm>
          <a:prstGeom prst="roundRect">
            <a:avLst>
              <a:gd name="adj" fmla="val 4237"/>
            </a:avLst>
          </a:prstGeom>
          <a:solidFill>
            <a:srgbClr val="16315F"/>
          </a:solidFill>
          <a:ln w="9525">
            <a:solidFill>
              <a:srgbClr val="2C4A82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22376" y="2743200"/>
            <a:ext cx="548640" cy="548640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8" name="Image 1" descr="icons/baseball_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2880360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22376" y="3346704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Facts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722376" y="3639312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B9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Fact_ball_by_ball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722376" y="3931920"/>
            <a:ext cx="22768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E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225,000+ deliveries tracking overs, runs, wickets, plus batter and bowler names.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3410712" y="2542032"/>
            <a:ext cx="2715768" cy="2157984"/>
          </a:xfrm>
          <a:prstGeom prst="roundRect">
            <a:avLst>
              <a:gd name="adj" fmla="val 4237"/>
            </a:avLst>
          </a:prstGeom>
          <a:solidFill>
            <a:srgbClr val="16315F"/>
          </a:solidFill>
          <a:ln w="9525">
            <a:solidFill>
              <a:srgbClr val="2C4A82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630168" y="2743200"/>
            <a:ext cx="548640" cy="548640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4" name="Image 2" descr="icons/table_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7328" y="2880360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630168" y="3346704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&amp; Franchise Dims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3630168" y="3639312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B9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Dim_Matches · Franchise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3630168" y="3931920"/>
            <a:ext cx="22768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E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950 matches with venue, margins, toss &amp; POTM — plus franchise colors, owners and home grounds.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6318504" y="2542032"/>
            <a:ext cx="2715768" cy="2157984"/>
          </a:xfrm>
          <a:prstGeom prst="roundRect">
            <a:avLst>
              <a:gd name="adj" fmla="val 4237"/>
            </a:avLst>
          </a:prstGeom>
          <a:solidFill>
            <a:srgbClr val="16315F"/>
          </a:solidFill>
          <a:ln w="9525">
            <a:solidFill>
              <a:srgbClr val="2C4A82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537960" y="2743200"/>
            <a:ext cx="548640" cy="548640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0" name="Image 3" descr="icons/idcard_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2880360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537960" y="3346704"/>
            <a:ext cx="2276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Details</a:t>
            </a:r>
            <a:endParaRPr lang="en-US" sz="1450" dirty="0"/>
          </a:p>
        </p:txBody>
      </p:sp>
      <p:sp>
        <p:nvSpPr>
          <p:cNvPr id="32" name="Text 26"/>
          <p:cNvSpPr/>
          <p:nvPr/>
        </p:nvSpPr>
        <p:spPr>
          <a:xfrm>
            <a:off x="6537960" y="3639312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B9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IPL Player Details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6537960" y="3931920"/>
            <a:ext cx="22768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E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statistics enriched with high-resolution Base64 circular portraits.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0624"/>
            <a:ext cx="566928" cy="566928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" name="Image 0" descr="icons/sitemap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" y="562356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114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FITS TOGETHER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88720" y="640080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 Overview — Star Schema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8321040" y="411480"/>
            <a:ext cx="411480" cy="411480"/>
          </a:xfrm>
          <a:prstGeom prst="rect">
            <a:avLst/>
          </a:prstGeom>
          <a:solidFill>
            <a:srgbClr val="E9B94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2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4617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9B949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8" name="Image 1" descr="unpacked/ppt/media/imag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" y="1608483"/>
            <a:ext cx="4370832" cy="281807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4407408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model view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349240" y="137160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Schema Design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349240" y="168249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for efficient filtering, fast DAX calculations and high-performance reporting in Power BI.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349240" y="2340864"/>
            <a:ext cx="3310128" cy="731520"/>
          </a:xfrm>
          <a:prstGeom prst="roundRect">
            <a:avLst>
              <a:gd name="adj" fmla="val 10000"/>
            </a:avLst>
          </a:prstGeom>
          <a:solidFill>
            <a:srgbClr val="112A56"/>
          </a:solidFill>
          <a:ln w="9525">
            <a:solidFill>
              <a:srgbClr val="2C4A82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486400" y="2523744"/>
            <a:ext cx="365760" cy="365760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4" name="Image 2" descr="icons/star_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0" y="261518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943600" y="243230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Fact Relationship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943600" y="26517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80" dirty="0">
                <a:solidFill>
                  <a:srgbClr val="AE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Dim_Matches[ID] → Fact_ball_by_ball[ID]  (1-to-Many) — links match-level info to ball-by-ball data.</a:t>
            </a:r>
            <a:endParaRPr lang="en-US" sz="980" dirty="0"/>
          </a:p>
        </p:txBody>
      </p:sp>
      <p:sp>
        <p:nvSpPr>
          <p:cNvPr id="17" name="Shape 12"/>
          <p:cNvSpPr/>
          <p:nvPr/>
        </p:nvSpPr>
        <p:spPr>
          <a:xfrm>
            <a:off x="5349240" y="3145536"/>
            <a:ext cx="3310128" cy="731520"/>
          </a:xfrm>
          <a:prstGeom prst="roundRect">
            <a:avLst>
              <a:gd name="adj" fmla="val 10000"/>
            </a:avLst>
          </a:prstGeom>
          <a:solidFill>
            <a:srgbClr val="112A56"/>
          </a:solidFill>
          <a:ln w="9525">
            <a:solidFill>
              <a:srgbClr val="2C4A82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486400" y="3328416"/>
            <a:ext cx="365760" cy="365760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9" name="Image 3" descr="icons/link_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7840" y="3419856"/>
            <a:ext cx="182880" cy="1828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943600" y="323697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Mapping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943600" y="345643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80" dirty="0">
                <a:solidFill>
                  <a:srgbClr val="AE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Player Details[Name] → Fact_ball_by_ball[batter]  (1-to-Many) — maps player info and images.</a:t>
            </a:r>
            <a:endParaRPr lang="en-US" sz="980" dirty="0"/>
          </a:p>
        </p:txBody>
      </p:sp>
      <p:sp>
        <p:nvSpPr>
          <p:cNvPr id="22" name="Shape 16"/>
          <p:cNvSpPr/>
          <p:nvPr/>
        </p:nvSpPr>
        <p:spPr>
          <a:xfrm>
            <a:off x="5349240" y="3950208"/>
            <a:ext cx="3310128" cy="731520"/>
          </a:xfrm>
          <a:prstGeom prst="roundRect">
            <a:avLst>
              <a:gd name="adj" fmla="val 10000"/>
            </a:avLst>
          </a:prstGeom>
          <a:solidFill>
            <a:srgbClr val="112A56"/>
          </a:solidFill>
          <a:ln w="9525">
            <a:solidFill>
              <a:srgbClr val="2C4A82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486400" y="4133088"/>
            <a:ext cx="365760" cy="365760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4" name="Image 4" descr="icons/exchange_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7840" y="4224528"/>
            <a:ext cx="182880" cy="1828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943600" y="404164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Franchise Link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5943600" y="426110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80" dirty="0">
                <a:solidFill>
                  <a:srgbClr val="AE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Details[Name] ↔ Teams[Team]  (1-to-1) — connects logos, captain, coach &amp; titles.</a:t>
            </a:r>
            <a:endParaRPr lang="en-US" sz="9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0624"/>
            <a:ext cx="566928" cy="566928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" name="Image 0" descr="icons/chartbar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" y="562356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114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PAGE 1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88720" y="640080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Dashboard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8321040" y="411480"/>
            <a:ext cx="411480" cy="411480"/>
          </a:xfrm>
          <a:prstGeom prst="rect">
            <a:avLst/>
          </a:prstGeom>
          <a:solidFill>
            <a:srgbClr val="E9B94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2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316736"/>
            <a:ext cx="5641848" cy="3244025"/>
          </a:xfrm>
          <a:prstGeom prst="roundRect">
            <a:avLst>
              <a:gd name="adj" fmla="val 1691"/>
            </a:avLst>
          </a:prstGeom>
          <a:solidFill>
            <a:srgbClr val="FFFFFF"/>
          </a:solidFill>
          <a:ln w="12700">
            <a:solidFill>
              <a:srgbClr val="E9B949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8" name="Image 1" descr="unpacked/ppt/media/imag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1371600"/>
            <a:ext cx="5532120" cy="313429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63640" y="1371600"/>
            <a:ext cx="2395728" cy="786384"/>
          </a:xfrm>
          <a:prstGeom prst="roundRect">
            <a:avLst>
              <a:gd name="adj" fmla="val 9302"/>
            </a:avLst>
          </a:prstGeom>
          <a:solidFill>
            <a:srgbClr val="112A56"/>
          </a:solidFill>
          <a:ln w="9525">
            <a:solidFill>
              <a:srgbClr val="2C4A82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391656" y="1517904"/>
            <a:ext cx="420624" cy="420624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1" name="Image 2" descr="icons/chartbar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812" y="1623060"/>
            <a:ext cx="210312" cy="2103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03720" y="147218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KPIs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6903720" y="17099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AE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seasons · 950 matches · 296K+ runs · 11K+ wickets.</a:t>
            </a:r>
            <a:endParaRPr lang="en-US" sz="960" dirty="0"/>
          </a:p>
        </p:txBody>
      </p:sp>
      <p:sp>
        <p:nvSpPr>
          <p:cNvPr id="14" name="Shape 9"/>
          <p:cNvSpPr/>
          <p:nvPr/>
        </p:nvSpPr>
        <p:spPr>
          <a:xfrm>
            <a:off x="6263640" y="2221992"/>
            <a:ext cx="2395728" cy="786384"/>
          </a:xfrm>
          <a:prstGeom prst="roundRect">
            <a:avLst>
              <a:gd name="adj" fmla="val 9302"/>
            </a:avLst>
          </a:prstGeom>
          <a:solidFill>
            <a:srgbClr val="112A56"/>
          </a:solidFill>
          <a:ln w="9525">
            <a:solidFill>
              <a:srgbClr val="2C4A82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391656" y="2368296"/>
            <a:ext cx="420624" cy="420624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6" name="Image 3" descr="icons/coins_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6812" y="2473452"/>
            <a:ext cx="210312" cy="2103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03720" y="232257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Toss Strategy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6903720" y="25603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AE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Field-first wins 63% of tosses — a clear chasing advantage.</a:t>
            </a:r>
            <a:endParaRPr lang="en-US" sz="960" dirty="0"/>
          </a:p>
        </p:txBody>
      </p:sp>
      <p:sp>
        <p:nvSpPr>
          <p:cNvPr id="19" name="Shape 13"/>
          <p:cNvSpPr/>
          <p:nvPr/>
        </p:nvSpPr>
        <p:spPr>
          <a:xfrm>
            <a:off x="6263640" y="3072384"/>
            <a:ext cx="2395728" cy="786384"/>
          </a:xfrm>
          <a:prstGeom prst="roundRect">
            <a:avLst>
              <a:gd name="adj" fmla="val 9302"/>
            </a:avLst>
          </a:prstGeom>
          <a:solidFill>
            <a:srgbClr val="112A56"/>
          </a:solidFill>
          <a:ln w="9525">
            <a:solidFill>
              <a:srgbClr val="2C4A82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391656" y="3218688"/>
            <a:ext cx="420624" cy="420624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1" name="Image 4" descr="icons/crown_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6812" y="3323844"/>
            <a:ext cx="210312" cy="21031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903720" y="31729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POTM Leaders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6903720" y="34107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AE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de Villiers leads with 25 (Gayle 22, Rohit 18).</a:t>
            </a:r>
            <a:endParaRPr lang="en-US" sz="960" dirty="0"/>
          </a:p>
        </p:txBody>
      </p:sp>
      <p:sp>
        <p:nvSpPr>
          <p:cNvPr id="24" name="Shape 17"/>
          <p:cNvSpPr/>
          <p:nvPr/>
        </p:nvSpPr>
        <p:spPr>
          <a:xfrm>
            <a:off x="6263640" y="3922776"/>
            <a:ext cx="2395728" cy="786384"/>
          </a:xfrm>
          <a:prstGeom prst="roundRect">
            <a:avLst>
              <a:gd name="adj" fmla="val 9302"/>
            </a:avLst>
          </a:prstGeom>
          <a:solidFill>
            <a:srgbClr val="112A56"/>
          </a:solidFill>
          <a:ln w="9525">
            <a:solidFill>
              <a:srgbClr val="2C4A82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391656" y="4069080"/>
            <a:ext cx="420624" cy="420624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6" name="Image 5" descr="icons/table_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6812" y="4174236"/>
            <a:ext cx="210312" cy="21031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03720" y="40233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Tables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6903720" y="426110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AE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batters by sixes and bowlers by wickets ranked.</a:t>
            </a:r>
            <a:endParaRPr lang="en-US" sz="9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0624"/>
            <a:ext cx="566928" cy="566928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" name="Image 0" descr="icons/chartarea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" y="562356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114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PAGE 2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88720" y="640080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 Performance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8321040" y="411480"/>
            <a:ext cx="411480" cy="411480"/>
          </a:xfrm>
          <a:prstGeom prst="rect">
            <a:avLst/>
          </a:prstGeom>
          <a:solidFill>
            <a:srgbClr val="E9B94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2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316736"/>
            <a:ext cx="5641848" cy="3225027"/>
          </a:xfrm>
          <a:prstGeom prst="roundRect">
            <a:avLst>
              <a:gd name="adj" fmla="val 1701"/>
            </a:avLst>
          </a:prstGeom>
          <a:solidFill>
            <a:srgbClr val="FFFFFF"/>
          </a:solidFill>
          <a:ln w="12700">
            <a:solidFill>
              <a:srgbClr val="E9B949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8" name="Image 1" descr="unpacked/ppt/media/imag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1371600"/>
            <a:ext cx="5532120" cy="3115299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63640" y="1371600"/>
            <a:ext cx="2395728" cy="786384"/>
          </a:xfrm>
          <a:prstGeom prst="roundRect">
            <a:avLst>
              <a:gd name="adj" fmla="val 9302"/>
            </a:avLst>
          </a:prstGeom>
          <a:solidFill>
            <a:srgbClr val="112A56"/>
          </a:solidFill>
          <a:ln w="9525">
            <a:solidFill>
              <a:srgbClr val="2C4A82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391656" y="1517904"/>
            <a:ext cx="420624" cy="420624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1" name="Image 2" descr="icons/table_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6812" y="1623060"/>
            <a:ext cx="210312" cy="2103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03720" y="147218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Table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6903720" y="17099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AE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standings: Played, W, L, Points and Net Run Rate.</a:t>
            </a:r>
            <a:endParaRPr lang="en-US" sz="960" dirty="0"/>
          </a:p>
        </p:txBody>
      </p:sp>
      <p:sp>
        <p:nvSpPr>
          <p:cNvPr id="14" name="Shape 9"/>
          <p:cNvSpPr/>
          <p:nvPr/>
        </p:nvSpPr>
        <p:spPr>
          <a:xfrm>
            <a:off x="6263640" y="2221992"/>
            <a:ext cx="2395728" cy="786384"/>
          </a:xfrm>
          <a:prstGeom prst="roundRect">
            <a:avLst>
              <a:gd name="adj" fmla="val 9302"/>
            </a:avLst>
          </a:prstGeom>
          <a:solidFill>
            <a:srgbClr val="112A56"/>
          </a:solidFill>
          <a:ln w="9525">
            <a:solidFill>
              <a:srgbClr val="2C4A82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391656" y="2368296"/>
            <a:ext cx="420624" cy="420624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6" name="Image 3" descr="icons/balance_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6812" y="2473452"/>
            <a:ext cx="210312" cy="2103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03720" y="232257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vs Away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6903720" y="25603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AE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compares success at home grounds vs away.</a:t>
            </a:r>
            <a:endParaRPr lang="en-US" sz="960" dirty="0"/>
          </a:p>
        </p:txBody>
      </p:sp>
      <p:sp>
        <p:nvSpPr>
          <p:cNvPr id="19" name="Shape 13"/>
          <p:cNvSpPr/>
          <p:nvPr/>
        </p:nvSpPr>
        <p:spPr>
          <a:xfrm>
            <a:off x="6263640" y="3072384"/>
            <a:ext cx="2395728" cy="786384"/>
          </a:xfrm>
          <a:prstGeom prst="roundRect">
            <a:avLst>
              <a:gd name="adj" fmla="val 9302"/>
            </a:avLst>
          </a:prstGeom>
          <a:solidFill>
            <a:srgbClr val="112A56"/>
          </a:solidFill>
          <a:ln w="9525">
            <a:solidFill>
              <a:srgbClr val="2C4A82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391656" y="3218688"/>
            <a:ext cx="420624" cy="420624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1" name="Image 4" descr="icons/crown_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6812" y="3323844"/>
            <a:ext cx="210312" cy="21031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903720" y="31729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Winners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6903720" y="34107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AE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Orange Cap (batter) and Purple Cap (bowler).</a:t>
            </a:r>
            <a:endParaRPr lang="en-US" sz="960" dirty="0"/>
          </a:p>
        </p:txBody>
      </p:sp>
      <p:sp>
        <p:nvSpPr>
          <p:cNvPr id="24" name="Shape 17"/>
          <p:cNvSpPr/>
          <p:nvPr/>
        </p:nvSpPr>
        <p:spPr>
          <a:xfrm>
            <a:off x="6263640" y="3922776"/>
            <a:ext cx="2395728" cy="786384"/>
          </a:xfrm>
          <a:prstGeom prst="roundRect">
            <a:avLst>
              <a:gd name="adj" fmla="val 9302"/>
            </a:avLst>
          </a:prstGeom>
          <a:solidFill>
            <a:srgbClr val="112A56"/>
          </a:solidFill>
          <a:ln w="9525">
            <a:solidFill>
              <a:srgbClr val="2C4A82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391656" y="4069080"/>
            <a:ext cx="420624" cy="420624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6" name="Image 5" descr="icons/chartpie_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6812" y="4174236"/>
            <a:ext cx="210312" cy="21031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03720" y="40233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Breakdown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6903720" y="426110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AE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splits runs by singles, doubles, fours and sixes.</a:t>
            </a:r>
            <a:endParaRPr lang="en-US" sz="9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0624"/>
            <a:ext cx="566928" cy="566928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" name="Image 0" descr="icons/shield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" y="562356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114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PAGE 3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88720" y="640080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Performance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8321040" y="411480"/>
            <a:ext cx="411480" cy="411480"/>
          </a:xfrm>
          <a:prstGeom prst="rect">
            <a:avLst/>
          </a:prstGeom>
          <a:solidFill>
            <a:srgbClr val="E9B94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2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316736"/>
            <a:ext cx="5641848" cy="321300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12700">
            <a:solidFill>
              <a:srgbClr val="E9B949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6263640" y="1371600"/>
            <a:ext cx="2395728" cy="786384"/>
          </a:xfrm>
          <a:prstGeom prst="roundRect">
            <a:avLst>
              <a:gd name="adj" fmla="val 9302"/>
            </a:avLst>
          </a:prstGeom>
          <a:solidFill>
            <a:srgbClr val="112A56"/>
          </a:solidFill>
          <a:ln w="9525">
            <a:solidFill>
              <a:srgbClr val="2C4A82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391656" y="1517904"/>
            <a:ext cx="420624" cy="420624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1" name="Image 2" descr="icons/chartbar_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812" y="1623060"/>
            <a:ext cx="210312" cy="2103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03720" y="147218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KPIs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6903720" y="17099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AE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Slicer-driven Win %, matches, boundaries, top batter &amp; bowler.</a:t>
            </a:r>
            <a:endParaRPr lang="en-US" sz="960" dirty="0"/>
          </a:p>
        </p:txBody>
      </p:sp>
      <p:sp>
        <p:nvSpPr>
          <p:cNvPr id="14" name="Shape 9"/>
          <p:cNvSpPr/>
          <p:nvPr/>
        </p:nvSpPr>
        <p:spPr>
          <a:xfrm>
            <a:off x="6263640" y="2221992"/>
            <a:ext cx="2395728" cy="786384"/>
          </a:xfrm>
          <a:prstGeom prst="roundRect">
            <a:avLst>
              <a:gd name="adj" fmla="val 9302"/>
            </a:avLst>
          </a:prstGeom>
          <a:solidFill>
            <a:srgbClr val="112A56"/>
          </a:solidFill>
          <a:ln w="9525">
            <a:solidFill>
              <a:srgbClr val="2C4A82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391656" y="2368296"/>
            <a:ext cx="420624" cy="420624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6" name="Image 3" descr="icons/chartarea_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6812" y="2473452"/>
            <a:ext cx="210312" cy="2103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03720" y="232257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Trends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6903720" y="25603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AE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chart of runs scored vs conceded across seasons.</a:t>
            </a:r>
            <a:endParaRPr lang="en-US" sz="960" dirty="0"/>
          </a:p>
        </p:txBody>
      </p:sp>
      <p:sp>
        <p:nvSpPr>
          <p:cNvPr id="19" name="Shape 13"/>
          <p:cNvSpPr/>
          <p:nvPr/>
        </p:nvSpPr>
        <p:spPr>
          <a:xfrm>
            <a:off x="6263640" y="3072384"/>
            <a:ext cx="2395728" cy="786384"/>
          </a:xfrm>
          <a:prstGeom prst="roundRect">
            <a:avLst>
              <a:gd name="adj" fmla="val 9302"/>
            </a:avLst>
          </a:prstGeom>
          <a:solidFill>
            <a:srgbClr val="112A56"/>
          </a:solidFill>
          <a:ln w="9525">
            <a:solidFill>
              <a:srgbClr val="2C4A82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391656" y="3218688"/>
            <a:ext cx="420624" cy="420624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1" name="Image 4" descr="icons/shield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812" y="3323844"/>
            <a:ext cx="210312" cy="21031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903720" y="31729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Victory Conditions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6903720" y="34107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AE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by chasing vs defending and by toss outcome.</a:t>
            </a:r>
            <a:endParaRPr lang="en-US" sz="960" dirty="0"/>
          </a:p>
        </p:txBody>
      </p:sp>
      <p:sp>
        <p:nvSpPr>
          <p:cNvPr id="24" name="Shape 17"/>
          <p:cNvSpPr/>
          <p:nvPr/>
        </p:nvSpPr>
        <p:spPr>
          <a:xfrm>
            <a:off x="6263640" y="3922776"/>
            <a:ext cx="2395728" cy="786384"/>
          </a:xfrm>
          <a:prstGeom prst="roundRect">
            <a:avLst>
              <a:gd name="adj" fmla="val 9302"/>
            </a:avLst>
          </a:prstGeom>
          <a:solidFill>
            <a:srgbClr val="112A56"/>
          </a:solidFill>
          <a:ln w="9525">
            <a:solidFill>
              <a:srgbClr val="2C4A82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391656" y="4069080"/>
            <a:ext cx="420624" cy="420624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6" name="Image 5" descr="icons/fistraised_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6812" y="4174236"/>
            <a:ext cx="210312" cy="21031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03720" y="402336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Head-to-Head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6903720" y="426110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960" dirty="0">
                <a:solidFill>
                  <a:srgbClr val="AE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detailed against each opponent franchise.</a:t>
            </a:r>
            <a:endParaRPr lang="en-US" sz="96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4201346-9D50-9F01-1226-C93BC4BC3E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652" y="1387127"/>
            <a:ext cx="5518944" cy="30849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0624"/>
            <a:ext cx="566928" cy="566928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" name="Image 0" descr="icons/lightbulb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" y="562356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114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DATA TELLS US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88720" y="640080"/>
            <a:ext cx="6949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&amp; Recommendations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8321040" y="411480"/>
            <a:ext cx="411480" cy="411480"/>
          </a:xfrm>
          <a:prstGeom prst="rect">
            <a:avLst/>
          </a:prstGeom>
          <a:solidFill>
            <a:srgbClr val="E9B94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2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02920" y="1335024"/>
            <a:ext cx="4069080" cy="3346704"/>
          </a:xfrm>
          <a:prstGeom prst="roundRect">
            <a:avLst>
              <a:gd name="adj" fmla="val 2732"/>
            </a:avLst>
          </a:prstGeom>
          <a:solidFill>
            <a:srgbClr val="112A56"/>
          </a:solidFill>
          <a:ln w="9525">
            <a:solidFill>
              <a:srgbClr val="2C4A82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94944" y="1517904"/>
            <a:ext cx="457200" cy="457200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9" name="Image 1" descr="icons/lightbulb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" y="1632204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153619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500" dirty="0"/>
          </a:p>
        </p:txBody>
      </p:sp>
      <p:pic>
        <p:nvPicPr>
          <p:cNvPr id="11" name="Image 2" descr="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2176272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2103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performance varies significantly across IPL seasons.</a:t>
            </a:r>
            <a:endParaRPr lang="en-US" sz="1230" dirty="0"/>
          </a:p>
        </p:txBody>
      </p:sp>
      <p:pic>
        <p:nvPicPr>
          <p:cNvPr id="13" name="Image 3" descr="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2683764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24128" y="26106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franchises sustain consistent performance over many years.</a:t>
            </a:r>
            <a:endParaRPr lang="en-US" sz="1230" dirty="0"/>
          </a:p>
        </p:txBody>
      </p:sp>
      <p:pic>
        <p:nvPicPr>
          <p:cNvPr id="15" name="Image 4" descr="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3191256"/>
            <a:ext cx="182880" cy="1828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24128" y="311810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Championship teams show strong win % and balanced squads.</a:t>
            </a:r>
            <a:endParaRPr lang="en-US" sz="1230" dirty="0"/>
          </a:p>
        </p:txBody>
      </p:sp>
      <p:pic>
        <p:nvPicPr>
          <p:cNvPr id="17" name="Image 5" descr="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3698748"/>
            <a:ext cx="182880" cy="18288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24128" y="362559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Team-wise analysis reveals batting, bowling &amp; match-winning gaps.</a:t>
            </a:r>
            <a:endParaRPr lang="en-US" sz="1230" dirty="0"/>
          </a:p>
        </p:txBody>
      </p:sp>
      <p:pic>
        <p:nvPicPr>
          <p:cNvPr id="19" name="Image 6" descr="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206240"/>
            <a:ext cx="182880" cy="18288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1024128" y="41330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trends expose shifting rankings and success rates over time.</a:t>
            </a:r>
            <a:endParaRPr lang="en-US" sz="1230" dirty="0"/>
          </a:p>
        </p:txBody>
      </p:sp>
      <p:sp>
        <p:nvSpPr>
          <p:cNvPr id="21" name="Shape 12"/>
          <p:cNvSpPr/>
          <p:nvPr/>
        </p:nvSpPr>
        <p:spPr>
          <a:xfrm>
            <a:off x="4663440" y="1335024"/>
            <a:ext cx="4069080" cy="3346704"/>
          </a:xfrm>
          <a:prstGeom prst="roundRect">
            <a:avLst>
              <a:gd name="adj" fmla="val 2732"/>
            </a:avLst>
          </a:prstGeom>
          <a:solidFill>
            <a:srgbClr val="16315F"/>
          </a:solidFill>
          <a:ln w="9525">
            <a:solidFill>
              <a:srgbClr val="2C4A82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13"/>
          <p:cNvSpPr/>
          <p:nvPr/>
        </p:nvSpPr>
        <p:spPr>
          <a:xfrm>
            <a:off x="4855464" y="1517904"/>
            <a:ext cx="457200" cy="457200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3" name="Image 7" descr="icons/bullseye_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9764" y="1632204"/>
            <a:ext cx="228600" cy="22860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440680" y="153619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500" dirty="0"/>
          </a:p>
        </p:txBody>
      </p:sp>
      <p:pic>
        <p:nvPicPr>
          <p:cNvPr id="25" name="Image 8" descr="icons/st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0328" y="2176272"/>
            <a:ext cx="182880" cy="18288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184648" y="2103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balanced squads with strong batting and bowling units.</a:t>
            </a:r>
            <a:endParaRPr lang="en-US" sz="1230" dirty="0"/>
          </a:p>
        </p:txBody>
      </p:sp>
      <p:pic>
        <p:nvPicPr>
          <p:cNvPr id="27" name="Image 9" descr="icons/st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0328" y="2683764"/>
            <a:ext cx="182880" cy="182880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5184648" y="26106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winning seasons to surface the strategies that worked.</a:t>
            </a:r>
            <a:endParaRPr lang="en-US" sz="1230" dirty="0"/>
          </a:p>
        </p:txBody>
      </p:sp>
      <p:pic>
        <p:nvPicPr>
          <p:cNvPr id="29" name="Image 10" descr="icons/st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0328" y="3191256"/>
            <a:ext cx="182880" cy="182880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5184648" y="311810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historical trends to guide planning and decision-making.</a:t>
            </a:r>
            <a:endParaRPr lang="en-US" sz="1230" dirty="0"/>
          </a:p>
        </p:txBody>
      </p:sp>
      <p:pic>
        <p:nvPicPr>
          <p:cNvPr id="31" name="Image 11" descr="icons/st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0328" y="3698748"/>
            <a:ext cx="182880" cy="182880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5184648" y="362559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strengths and weaknesses across seasons continuously.</a:t>
            </a:r>
            <a:endParaRPr lang="en-US" sz="1230" dirty="0"/>
          </a:p>
        </p:txBody>
      </p:sp>
      <p:pic>
        <p:nvPicPr>
          <p:cNvPr id="33" name="Image 12" descr="icons/st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0328" y="4206240"/>
            <a:ext cx="182880" cy="182880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5184648" y="41330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3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data to optimize composition and match strategy.</a:t>
            </a:r>
            <a:endParaRPr lang="en-US" sz="12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" name="Image 0" descr="icons/rocket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" y="59893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7008" y="44805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WRAPPING UP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188720" y="676656"/>
            <a:ext cx="7315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Exploration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8321040" y="411480"/>
            <a:ext cx="411480" cy="411480"/>
          </a:xfrm>
          <a:prstGeom prst="rect">
            <a:avLst/>
          </a:prstGeom>
          <a:solidFill>
            <a:srgbClr val="E9B94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2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335024"/>
            <a:ext cx="8092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A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shows how sports data drives decision-making, performance evaluation and strategic planning. Applying analytics to IPL data produced valuable insight for teams, players and cricket enthusiasts alike.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48640" y="22128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578608"/>
            <a:ext cx="2615184" cy="1078992"/>
          </a:xfrm>
          <a:prstGeom prst="roundRect">
            <a:avLst>
              <a:gd name="adj" fmla="val 7627"/>
            </a:avLst>
          </a:prstGeom>
          <a:solidFill>
            <a:srgbClr val="112A56"/>
          </a:solidFill>
          <a:ln w="9525">
            <a:solidFill>
              <a:srgbClr val="2C4A82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2770632"/>
            <a:ext cx="457200" cy="457200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1" name="Image 1" descr="icons/plug_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" y="2884932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98448" y="272491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IPL Data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298448" y="2999232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AE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APIs for real-time analysis and reporting.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3328416" y="2578608"/>
            <a:ext cx="2615184" cy="1078992"/>
          </a:xfrm>
          <a:prstGeom prst="roundRect">
            <a:avLst>
              <a:gd name="adj" fmla="val 7627"/>
            </a:avLst>
          </a:prstGeom>
          <a:solidFill>
            <a:srgbClr val="112A56"/>
          </a:solidFill>
          <a:ln w="9525">
            <a:solidFill>
              <a:srgbClr val="2C4A82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511296" y="2770632"/>
            <a:ext cx="457200" cy="457200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6" name="Image 2" descr="icons/brain_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5596" y="2884932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078224" y="272491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Analytics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078224" y="2999232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AE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match outcomes and player performances.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6108192" y="2578608"/>
            <a:ext cx="2615184" cy="1078992"/>
          </a:xfrm>
          <a:prstGeom prst="roundRect">
            <a:avLst>
              <a:gd name="adj" fmla="val 7627"/>
            </a:avLst>
          </a:prstGeom>
          <a:solidFill>
            <a:srgbClr val="112A56"/>
          </a:solidFill>
          <a:ln w="9525">
            <a:solidFill>
              <a:srgbClr val="2C4A82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291072" y="2770632"/>
            <a:ext cx="457200" cy="457200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1" name="Image 3" descr="icons/robot_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5372" y="2884932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0" y="272491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Valuation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858000" y="2999232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AE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player value and auction bidding strategy.</a:t>
            </a:r>
            <a:endParaRPr lang="en-US" sz="1030" dirty="0"/>
          </a:p>
        </p:txBody>
      </p:sp>
      <p:sp>
        <p:nvSpPr>
          <p:cNvPr id="24" name="Shape 18"/>
          <p:cNvSpPr/>
          <p:nvPr/>
        </p:nvSpPr>
        <p:spPr>
          <a:xfrm>
            <a:off x="548640" y="3803904"/>
            <a:ext cx="2615184" cy="1078992"/>
          </a:xfrm>
          <a:prstGeom prst="roundRect">
            <a:avLst>
              <a:gd name="adj" fmla="val 7627"/>
            </a:avLst>
          </a:prstGeom>
          <a:solidFill>
            <a:srgbClr val="112A56"/>
          </a:solidFill>
          <a:ln w="9525">
            <a:solidFill>
              <a:srgbClr val="2C4A82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31520" y="3995928"/>
            <a:ext cx="457200" cy="457200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26" name="Image 4" descr="icons/balance_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820" y="4110228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98448" y="395020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Comparison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1298448" y="4224528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AE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benchmarking and player-vs-player views.</a:t>
            </a:r>
            <a:endParaRPr lang="en-US" sz="1030" dirty="0"/>
          </a:p>
        </p:txBody>
      </p:sp>
      <p:sp>
        <p:nvSpPr>
          <p:cNvPr id="29" name="Shape 22"/>
          <p:cNvSpPr/>
          <p:nvPr/>
        </p:nvSpPr>
        <p:spPr>
          <a:xfrm>
            <a:off x="3328416" y="3803904"/>
            <a:ext cx="2615184" cy="1078992"/>
          </a:xfrm>
          <a:prstGeom prst="roundRect">
            <a:avLst>
              <a:gd name="adj" fmla="val 7627"/>
            </a:avLst>
          </a:prstGeom>
          <a:solidFill>
            <a:srgbClr val="112A56"/>
          </a:solidFill>
          <a:ln w="9525">
            <a:solidFill>
              <a:srgbClr val="2C4A82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511296" y="3995928"/>
            <a:ext cx="457200" cy="457200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1" name="Image 5" descr="icons/layers_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25596" y="4110228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078224" y="395020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Expanded Dashboards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4078224" y="4224528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AE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Venue, partnership and opposition-based insights.</a:t>
            </a:r>
            <a:endParaRPr lang="en-US" sz="1030" dirty="0"/>
          </a:p>
        </p:txBody>
      </p:sp>
      <p:sp>
        <p:nvSpPr>
          <p:cNvPr id="34" name="Shape 26"/>
          <p:cNvSpPr/>
          <p:nvPr/>
        </p:nvSpPr>
        <p:spPr>
          <a:xfrm>
            <a:off x="6108192" y="3803904"/>
            <a:ext cx="2615184" cy="1078992"/>
          </a:xfrm>
          <a:prstGeom prst="roundRect">
            <a:avLst>
              <a:gd name="adj" fmla="val 7627"/>
            </a:avLst>
          </a:prstGeom>
          <a:solidFill>
            <a:srgbClr val="112A56"/>
          </a:solidFill>
          <a:ln w="9525">
            <a:solidFill>
              <a:srgbClr val="2C4A82"/>
            </a:solidFill>
            <a:prstDash val="solid"/>
          </a:ln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291072" y="3995928"/>
            <a:ext cx="457200" cy="457200"/>
          </a:xfrm>
          <a:prstGeom prst="ellipse">
            <a:avLst/>
          </a:prstGeom>
          <a:solidFill>
            <a:srgbClr val="E9B949"/>
          </a:solidFill>
          <a:ln/>
          <a:effectLst>
            <a:outerShdw blurRad="88900" dist="254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36" name="Image 6" descr="icons/compass_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5372" y="4110228"/>
            <a:ext cx="228600" cy="22860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858000" y="395020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Richer Visuals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6858000" y="4224528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AE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reports to sharpen decision-making.</a:t>
            </a:r>
            <a:endParaRPr lang="en-US" sz="10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1884</TotalTime>
  <Words>1148</Words>
  <Application>Microsoft Office PowerPoint</Application>
  <PresentationFormat>On-screen Show (16:9)</PresentationFormat>
  <Paragraphs>206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IPL Analytics 2008-2022</dc:title>
  <dc:subject>PptxGenJS Presentation</dc:subject>
  <dc:creator>IPL Analytics</dc:creator>
  <cp:lastModifiedBy>Geo George</cp:lastModifiedBy>
  <cp:revision>2</cp:revision>
  <dcterms:created xsi:type="dcterms:W3CDTF">2026-06-22T06:04:24Z</dcterms:created>
  <dcterms:modified xsi:type="dcterms:W3CDTF">2026-06-28T05:34:54Z</dcterms:modified>
</cp:coreProperties>
</file>